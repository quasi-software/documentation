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96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31F514-E035-4045-BF8B-8CA1E5BC6F1B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B16FF-EBBC-48DB-B5D6-4F619BDC7C6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208365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31F514-E035-4045-BF8B-8CA1E5BC6F1B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B16FF-EBBC-48DB-B5D6-4F619BDC7C6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78328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31F514-E035-4045-BF8B-8CA1E5BC6F1B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B16FF-EBBC-48DB-B5D6-4F619BDC7C6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50221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31F514-E035-4045-BF8B-8CA1E5BC6F1B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B16FF-EBBC-48DB-B5D6-4F619BDC7C6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73162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31F514-E035-4045-BF8B-8CA1E5BC6F1B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B16FF-EBBC-48DB-B5D6-4F619BDC7C6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01945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31F514-E035-4045-BF8B-8CA1E5BC6F1B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B16FF-EBBC-48DB-B5D6-4F619BDC7C6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07287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31F514-E035-4045-BF8B-8CA1E5BC6F1B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B16FF-EBBC-48DB-B5D6-4F619BDC7C6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02411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31F514-E035-4045-BF8B-8CA1E5BC6F1B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B16FF-EBBC-48DB-B5D6-4F619BDC7C6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75700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31F514-E035-4045-BF8B-8CA1E5BC6F1B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B16FF-EBBC-48DB-B5D6-4F619BDC7C6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20477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31F514-E035-4045-BF8B-8CA1E5BC6F1B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B16FF-EBBC-48DB-B5D6-4F619BDC7C6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14223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31F514-E035-4045-BF8B-8CA1E5BC6F1B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B16FF-EBBC-48DB-B5D6-4F619BDC7C6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2164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31F514-E035-4045-BF8B-8CA1E5BC6F1B}" type="datetimeFigureOut">
              <a:rPr lang="de-DE" smtClean="0"/>
              <a:t>04.02.2026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DB16FF-EBBC-48DB-B5D6-4F619BDC7C6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20659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NULL"/><Relationship Id="rId26" Type="http://schemas.openxmlformats.org/officeDocument/2006/relationships/image" Target="../media/image4.png"/><Relationship Id="rId3" Type="http://schemas.microsoft.com/office/2007/relationships/hdphoto" Target="../media/hdphoto1.wdp"/><Relationship Id="rId25" Type="http://schemas.openxmlformats.org/officeDocument/2006/relationships/image" Target="NULL"/><Relationship Id="rId2" Type="http://schemas.openxmlformats.org/officeDocument/2006/relationships/image" Target="../media/image1.png"/><Relationship Id="rId29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24" Type="http://schemas.openxmlformats.org/officeDocument/2006/relationships/image" Target="../media/image3.png"/><Relationship Id="rId32" Type="http://schemas.openxmlformats.org/officeDocument/2006/relationships/image" Target="../media/image10.png"/><Relationship Id="rId23" Type="http://schemas.openxmlformats.org/officeDocument/2006/relationships/image" Target="../media/image20.png"/><Relationship Id="rId28" Type="http://schemas.openxmlformats.org/officeDocument/2006/relationships/image" Target="../media/image6.png"/><Relationship Id="rId31" Type="http://schemas.openxmlformats.org/officeDocument/2006/relationships/image" Target="../media/image9.png"/><Relationship Id="rId4" Type="http://schemas.openxmlformats.org/officeDocument/2006/relationships/image" Target="../media/image2.png"/><Relationship Id="rId27" Type="http://schemas.openxmlformats.org/officeDocument/2006/relationships/image" Target="../media/image5.png"/><Relationship Id="rId30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hteck 38"/>
          <p:cNvSpPr/>
          <p:nvPr/>
        </p:nvSpPr>
        <p:spPr>
          <a:xfrm>
            <a:off x="948545" y="1450303"/>
            <a:ext cx="9491133" cy="5407697"/>
          </a:xfrm>
          <a:prstGeom prst="rect">
            <a:avLst/>
          </a:prstGeom>
          <a:solidFill>
            <a:schemeClr val="accent6">
              <a:lumMod val="40000"/>
              <a:lumOff val="60000"/>
              <a:alpha val="4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7" name="Rechteck 36"/>
          <p:cNvSpPr/>
          <p:nvPr/>
        </p:nvSpPr>
        <p:spPr>
          <a:xfrm>
            <a:off x="3958002" y="3086762"/>
            <a:ext cx="4320000" cy="1187206"/>
          </a:xfrm>
          <a:prstGeom prst="rect">
            <a:avLst/>
          </a:prstGeom>
          <a:solidFill>
            <a:srgbClr val="F010A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9" name="Grafik 48"/>
          <p:cNvPicPr>
            <a:picLocks noChangeAspect="1"/>
          </p:cNvPicPr>
          <p:nvPr/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68" b="98065" l="3279" r="98361">
                        <a14:foregroundMark x1="45902" y1="88065" x2="49180" y2="90645"/>
                        <a14:foregroundMark x1="49180" y1="94194" x2="49180" y2="98387"/>
                        <a14:foregroundMark x1="11475" y1="82258" x2="3279" y2="82258"/>
                        <a14:foregroundMark x1="68852" y1="84516" x2="98361" y2="84516"/>
                        <a14:foregroundMark x1="70492" y1="15484" x2="60656" y2="96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H="1">
            <a:off x="3538079" y="1910883"/>
            <a:ext cx="259265" cy="1317576"/>
          </a:xfrm>
          <a:prstGeom prst="rect">
            <a:avLst/>
          </a:prstGeom>
        </p:spPr>
      </p:pic>
      <p:sp>
        <p:nvSpPr>
          <p:cNvPr id="40" name="Rechteck 39"/>
          <p:cNvSpPr/>
          <p:nvPr/>
        </p:nvSpPr>
        <p:spPr>
          <a:xfrm>
            <a:off x="949074" y="1"/>
            <a:ext cx="9491133" cy="1454164"/>
          </a:xfrm>
          <a:prstGeom prst="rect">
            <a:avLst/>
          </a:prstGeom>
          <a:solidFill>
            <a:schemeClr val="accent4">
              <a:lumMod val="40000"/>
              <a:lumOff val="60000"/>
              <a:alpha val="4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2" name="Grafik 31"/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68" b="98065" l="3279" r="98361">
                        <a14:foregroundMark x1="45902" y1="88065" x2="49180" y2="90645"/>
                        <a14:foregroundMark x1="49180" y1="94194" x2="49180" y2="98387"/>
                        <a14:foregroundMark x1="11475" y1="82258" x2="3279" y2="82258"/>
                        <a14:foregroundMark x1="68852" y1="84516" x2="98361" y2="84516"/>
                        <a14:foregroundMark x1="70492" y1="15484" x2="60656" y2="96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80349" y="643136"/>
            <a:ext cx="259265" cy="1317576"/>
          </a:xfrm>
          <a:prstGeom prst="rect">
            <a:avLst/>
          </a:prstGeom>
        </p:spPr>
      </p:pic>
      <p:pic>
        <p:nvPicPr>
          <p:cNvPr id="35" name="Grafik 34"/>
          <p:cNvPicPr>
            <a:picLocks noChangeAspect="1"/>
          </p:cNvPicPr>
          <p:nvPr/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68" b="98065" l="3279" r="98361">
                        <a14:foregroundMark x1="45902" y1="88065" x2="49180" y2="90645"/>
                        <a14:foregroundMark x1="49180" y1="94194" x2="49180" y2="98387"/>
                        <a14:foregroundMark x1="11475" y1="82258" x2="3279" y2="82258"/>
                        <a14:foregroundMark x1="68852" y1="84516" x2="98361" y2="84516"/>
                        <a14:foregroundMark x1="70492" y1="15484" x2="60656" y2="96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H="1">
            <a:off x="3566437" y="4278780"/>
            <a:ext cx="259265" cy="1317576"/>
          </a:xfrm>
          <a:prstGeom prst="rect">
            <a:avLst/>
          </a:prstGeom>
        </p:spPr>
      </p:pic>
      <p:pic>
        <p:nvPicPr>
          <p:cNvPr id="36" name="Grafik 35"/>
          <p:cNvPicPr>
            <a:picLocks noChangeAspect="1"/>
          </p:cNvPicPr>
          <p:nvPr/>
        </p:nvPicPr>
        <p:blipFill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68" b="98065" l="3279" r="98361">
                        <a14:foregroundMark x1="45902" y1="88065" x2="49180" y2="90645"/>
                        <a14:foregroundMark x1="49180" y1="94194" x2="49180" y2="98387"/>
                        <a14:foregroundMark x1="11475" y1="82258" x2="3279" y2="82258"/>
                        <a14:foregroundMark x1="68852" y1="84516" x2="98361" y2="84516"/>
                        <a14:foregroundMark x1="70492" y1="15484" x2="60656" y2="96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4408187" y="5294993"/>
            <a:ext cx="259265" cy="1317576"/>
          </a:xfrm>
          <a:prstGeom prst="rect">
            <a:avLst/>
          </a:prstGeom>
        </p:spPr>
      </p:pic>
      <p:sp>
        <p:nvSpPr>
          <p:cNvPr id="4" name="Rechteck 3"/>
          <p:cNvSpPr/>
          <p:nvPr/>
        </p:nvSpPr>
        <p:spPr>
          <a:xfrm>
            <a:off x="3940512" y="4273969"/>
            <a:ext cx="4320000" cy="1502676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/>
          <p:cNvSpPr/>
          <p:nvPr/>
        </p:nvSpPr>
        <p:spPr>
          <a:xfrm>
            <a:off x="3940512" y="1465112"/>
            <a:ext cx="4320000" cy="1625417"/>
          </a:xfrm>
          <a:prstGeom prst="rect">
            <a:avLst/>
          </a:prstGeom>
          <a:solidFill>
            <a:srgbClr val="FF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/>
          <p:cNvSpPr txBox="1"/>
          <p:nvPr/>
        </p:nvSpPr>
        <p:spPr>
          <a:xfrm>
            <a:off x="1559451" y="593044"/>
            <a:ext cx="13571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800" dirty="0"/>
              <a:t>T</a:t>
            </a:r>
            <a:r>
              <a:rPr lang="de-DE" sz="2800" baseline="-25000" dirty="0"/>
              <a:t>air</a:t>
            </a:r>
          </a:p>
        </p:txBody>
      </p:sp>
      <p:sp>
        <p:nvSpPr>
          <p:cNvPr id="9" name="Textfeld 8"/>
          <p:cNvSpPr txBox="1"/>
          <p:nvPr/>
        </p:nvSpPr>
        <p:spPr>
          <a:xfrm>
            <a:off x="1579051" y="1558305"/>
            <a:ext cx="13571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800" dirty="0"/>
              <a:t>T</a:t>
            </a:r>
            <a:r>
              <a:rPr lang="de-DE" sz="2800" baseline="-25000" dirty="0"/>
              <a:t>ground</a:t>
            </a:r>
          </a:p>
        </p:txBody>
      </p:sp>
      <p:sp>
        <p:nvSpPr>
          <p:cNvPr id="10" name="Textfeld 9"/>
          <p:cNvSpPr txBox="1"/>
          <p:nvPr/>
        </p:nvSpPr>
        <p:spPr>
          <a:xfrm>
            <a:off x="5104542" y="5849560"/>
            <a:ext cx="21463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800" dirty="0">
                <a:solidFill>
                  <a:schemeClr val="accent6">
                    <a:lumMod val="75000"/>
                  </a:schemeClr>
                </a:solidFill>
              </a:rPr>
              <a:t>A</a:t>
            </a:r>
            <a:r>
              <a:rPr lang="de-DE" sz="2800" baseline="-25000" dirty="0">
                <a:solidFill>
                  <a:schemeClr val="accent6">
                    <a:lumMod val="75000"/>
                  </a:schemeClr>
                </a:solidFill>
              </a:rPr>
              <a:t>bottom</a:t>
            </a:r>
            <a:r>
              <a:rPr lang="de-DE" sz="2800" dirty="0">
                <a:solidFill>
                  <a:schemeClr val="accent6">
                    <a:lumMod val="75000"/>
                  </a:schemeClr>
                </a:solidFill>
              </a:rPr>
              <a:t>, U</a:t>
            </a:r>
            <a:r>
              <a:rPr lang="de-DE" sz="2800" baseline="-25000" dirty="0">
                <a:solidFill>
                  <a:schemeClr val="accent6">
                    <a:lumMod val="75000"/>
                  </a:schemeClr>
                </a:solidFill>
              </a:rPr>
              <a:t>bottom</a:t>
            </a:r>
          </a:p>
        </p:txBody>
      </p:sp>
      <p:sp>
        <p:nvSpPr>
          <p:cNvPr id="13" name="Textfeld 12"/>
          <p:cNvSpPr txBox="1"/>
          <p:nvPr/>
        </p:nvSpPr>
        <p:spPr>
          <a:xfrm>
            <a:off x="5411063" y="2036195"/>
            <a:ext cx="13571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800" dirty="0"/>
              <a:t>T</a:t>
            </a:r>
            <a:r>
              <a:rPr lang="de-DE" sz="2800" baseline="-25000" dirty="0"/>
              <a:t>n</a:t>
            </a:r>
            <a:r>
              <a:rPr lang="de-DE" sz="2800" dirty="0"/>
              <a:t>, V</a:t>
            </a:r>
            <a:r>
              <a:rPr lang="de-DE" sz="2800" baseline="-25000" dirty="0"/>
              <a:t>n</a:t>
            </a:r>
          </a:p>
        </p:txBody>
      </p:sp>
      <p:sp>
        <p:nvSpPr>
          <p:cNvPr id="14" name="Textfeld 13"/>
          <p:cNvSpPr txBox="1"/>
          <p:nvPr/>
        </p:nvSpPr>
        <p:spPr>
          <a:xfrm>
            <a:off x="5421931" y="4743109"/>
            <a:ext cx="13571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800" dirty="0"/>
              <a:t>T</a:t>
            </a:r>
            <a:r>
              <a:rPr lang="de-DE" sz="2800" baseline="-25000" dirty="0"/>
              <a:t>1</a:t>
            </a:r>
            <a:r>
              <a:rPr lang="de-DE" sz="2800" dirty="0"/>
              <a:t>, V</a:t>
            </a:r>
            <a:r>
              <a:rPr lang="de-DE" sz="2800" baseline="-25000" dirty="0"/>
              <a:t>1</a:t>
            </a:r>
          </a:p>
        </p:txBody>
      </p:sp>
      <p:cxnSp>
        <p:nvCxnSpPr>
          <p:cNvPr id="23" name="Gerader Verbinder 22"/>
          <p:cNvCxnSpPr/>
          <p:nvPr/>
        </p:nvCxnSpPr>
        <p:spPr>
          <a:xfrm>
            <a:off x="8260512" y="1456645"/>
            <a:ext cx="0" cy="4331278"/>
          </a:xfrm>
          <a:prstGeom prst="line">
            <a:avLst/>
          </a:prstGeom>
          <a:ln w="88900">
            <a:solidFill>
              <a:schemeClr val="accent3">
                <a:lumMod val="75000"/>
              </a:schemeClr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" name="Textfeld 25"/>
          <p:cNvSpPr txBox="1"/>
          <p:nvPr/>
        </p:nvSpPr>
        <p:spPr>
          <a:xfrm>
            <a:off x="5048081" y="880303"/>
            <a:ext cx="21836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800" dirty="0">
                <a:solidFill>
                  <a:schemeClr val="accent2">
                    <a:lumMod val="75000"/>
                  </a:schemeClr>
                </a:solidFill>
              </a:rPr>
              <a:t>A</a:t>
            </a:r>
            <a:r>
              <a:rPr lang="de-DE" sz="2800" baseline="-25000" dirty="0">
                <a:solidFill>
                  <a:schemeClr val="accent2">
                    <a:lumMod val="75000"/>
                  </a:schemeClr>
                </a:solidFill>
              </a:rPr>
              <a:t>lid</a:t>
            </a:r>
            <a:r>
              <a:rPr lang="de-DE" sz="2800" dirty="0">
                <a:solidFill>
                  <a:schemeClr val="accent2">
                    <a:lumMod val="75000"/>
                  </a:schemeClr>
                </a:solidFill>
              </a:rPr>
              <a:t>,</a:t>
            </a:r>
            <a:r>
              <a:rPr lang="de-DE" sz="2800" baseline="-250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de-DE" sz="2800" dirty="0">
                <a:solidFill>
                  <a:schemeClr val="accent2">
                    <a:lumMod val="75000"/>
                  </a:schemeClr>
                </a:solidFill>
              </a:rPr>
              <a:t>U</a:t>
            </a:r>
            <a:r>
              <a:rPr lang="de-DE" sz="2800" baseline="-25000" dirty="0">
                <a:solidFill>
                  <a:schemeClr val="accent2">
                    <a:lumMod val="75000"/>
                  </a:schemeClr>
                </a:solidFill>
              </a:rPr>
              <a:t>lid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feld 40"/>
              <p:cNvSpPr txBox="1"/>
              <p:nvPr/>
            </p:nvSpPr>
            <p:spPr>
              <a:xfrm>
                <a:off x="3940511" y="106675"/>
                <a:ext cx="1981362" cy="5395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sz="2800" i="1" dirty="0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800" b="0" i="1" dirty="0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acc>
                  </m:oMath>
                </a14:m>
                <a:r>
                  <a:rPr lang="de-DE" sz="2800" baseline="-25000" dirty="0">
                    <a:solidFill>
                      <a:schemeClr val="accent2">
                        <a:lumMod val="75000"/>
                      </a:schemeClr>
                    </a:solidFill>
                  </a:rPr>
                  <a:t>loss,n,air</a:t>
                </a:r>
              </a:p>
            </p:txBody>
          </p:sp>
        </mc:Choice>
        <mc:Fallback>
          <p:sp>
            <p:nvSpPr>
              <p:cNvPr id="41" name="Textfeld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0511" y="106675"/>
                <a:ext cx="1981362" cy="539571"/>
              </a:xfrm>
              <a:prstGeom prst="rect">
                <a:avLst/>
              </a:prstGeom>
              <a:blipFill>
                <a:blip r:embed="rId4"/>
                <a:stretch>
                  <a:fillRect b="-3033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feld 41"/>
              <p:cNvSpPr txBox="1"/>
              <p:nvPr/>
            </p:nvSpPr>
            <p:spPr>
              <a:xfrm>
                <a:off x="1128110" y="2170252"/>
                <a:ext cx="2114656" cy="5395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sz="2800" i="1" dirty="0" smtClean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800" b="0" i="1" dirty="0" smtClean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acc>
                  </m:oMath>
                </a14:m>
                <a:r>
                  <a:rPr lang="de-DE" sz="2800" baseline="-25000" dirty="0">
                    <a:solidFill>
                      <a:schemeClr val="bg2">
                        <a:lumMod val="50000"/>
                      </a:schemeClr>
                    </a:solidFill>
                  </a:rPr>
                  <a:t>loss,n,wall</a:t>
                </a:r>
              </a:p>
            </p:txBody>
          </p:sp>
        </mc:Choice>
        <mc:Fallback xmlns="">
          <p:sp>
            <p:nvSpPr>
              <p:cNvPr id="42" name="Textfeld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110" y="2170252"/>
                <a:ext cx="2114656" cy="539571"/>
              </a:xfrm>
              <a:prstGeom prst="rect">
                <a:avLst/>
              </a:prstGeom>
              <a:blipFill>
                <a:blip r:embed="rId23"/>
                <a:stretch>
                  <a:fillRect b="-3033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feld 42"/>
              <p:cNvSpPr txBox="1"/>
              <p:nvPr/>
            </p:nvSpPr>
            <p:spPr>
              <a:xfrm>
                <a:off x="2211521" y="5963804"/>
                <a:ext cx="2114656" cy="5395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sz="2800" i="1" dirty="0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800" b="0" i="1" dirty="0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acc>
                  </m:oMath>
                </a14:m>
                <a:r>
                  <a:rPr lang="de-DE" sz="2800" baseline="-25000" dirty="0">
                    <a:solidFill>
                      <a:schemeClr val="accent6">
                        <a:lumMod val="75000"/>
                      </a:schemeClr>
                    </a:solidFill>
                  </a:rPr>
                  <a:t>loss,1,bottom</a:t>
                </a:r>
              </a:p>
            </p:txBody>
          </p:sp>
        </mc:Choice>
        <mc:Fallback xmlns="">
          <p:sp>
            <p:nvSpPr>
              <p:cNvPr id="43" name="Textfeld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1521" y="5963804"/>
                <a:ext cx="2114656" cy="539571"/>
              </a:xfrm>
              <a:prstGeom prst="rect">
                <a:avLst/>
              </a:prstGeom>
              <a:blipFill>
                <a:blip r:embed="rId24"/>
                <a:stretch>
                  <a:fillRect b="-3033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Ellipse 43"/>
          <p:cNvSpPr/>
          <p:nvPr/>
        </p:nvSpPr>
        <p:spPr>
          <a:xfrm>
            <a:off x="1695381" y="538575"/>
            <a:ext cx="1123950" cy="632157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Ellipse 44"/>
          <p:cNvSpPr/>
          <p:nvPr/>
        </p:nvSpPr>
        <p:spPr>
          <a:xfrm>
            <a:off x="1695657" y="1558305"/>
            <a:ext cx="1123950" cy="632157"/>
          </a:xfrm>
          <a:prstGeom prst="ellipse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0" name="Gerade Verbindung mit Pfeil 49"/>
          <p:cNvCxnSpPr/>
          <p:nvPr/>
        </p:nvCxnSpPr>
        <p:spPr>
          <a:xfrm flipH="1">
            <a:off x="8339825" y="1982154"/>
            <a:ext cx="767054" cy="0"/>
          </a:xfrm>
          <a:prstGeom prst="straightConnector1">
            <a:avLst/>
          </a:prstGeom>
          <a:ln w="444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feld 51"/>
              <p:cNvSpPr txBox="1"/>
              <p:nvPr/>
            </p:nvSpPr>
            <p:spPr>
              <a:xfrm>
                <a:off x="8689657" y="1362531"/>
                <a:ext cx="1682496" cy="826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sz="28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8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acc>
                  </m:oMath>
                </a14:m>
                <a:r>
                  <a:rPr lang="de-DE" sz="2800" baseline="-25000" dirty="0"/>
                  <a:t>out</a:t>
                </a:r>
                <a14:m>
                  <m:oMath xmlns:m="http://schemas.openxmlformats.org/officeDocument/2006/math">
                    <m:r>
                      <a:rPr lang="de-DE" sz="2800" b="0" i="0" dirty="0" smtClean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̇"/>
                        <m:ctrlPr>
                          <a:rPr lang="de-DE" sz="28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8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acc>
                  </m:oMath>
                </a14:m>
                <a:r>
                  <a:rPr lang="de-DE" sz="2800" baseline="-25000" dirty="0"/>
                  <a:t>out</a:t>
                </a:r>
              </a:p>
              <a:p>
                <a:pPr algn="ctr"/>
                <a:endParaRPr lang="de-DE" sz="2800" baseline="-25000" dirty="0"/>
              </a:p>
            </p:txBody>
          </p:sp>
        </mc:Choice>
        <mc:Fallback xmlns="">
          <p:sp>
            <p:nvSpPr>
              <p:cNvPr id="52" name="Textfeld 5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9657" y="1362531"/>
                <a:ext cx="1682496" cy="826829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feld 52"/>
              <p:cNvSpPr txBox="1"/>
              <p:nvPr/>
            </p:nvSpPr>
            <p:spPr>
              <a:xfrm>
                <a:off x="8527932" y="1982644"/>
                <a:ext cx="1688617" cy="826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sz="28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8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acc>
                  </m:oMath>
                </a14:m>
                <a:r>
                  <a:rPr lang="de-DE" sz="2800" baseline="-25000" dirty="0"/>
                  <a:t>in</a:t>
                </a:r>
                <a14:m>
                  <m:oMath xmlns:m="http://schemas.openxmlformats.org/officeDocument/2006/math">
                    <m:r>
                      <a:rPr lang="de-DE" sz="2800" b="0" i="0" dirty="0" smtClean="0"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̇"/>
                        <m:ctrlPr>
                          <a:rPr lang="de-DE" sz="28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8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acc>
                  </m:oMath>
                </a14:m>
                <a:r>
                  <a:rPr lang="de-DE" sz="2800" baseline="-25000" dirty="0"/>
                  <a:t>in</a:t>
                </a:r>
              </a:p>
              <a:p>
                <a:pPr algn="ctr"/>
                <a:endParaRPr lang="de-DE" sz="2800" baseline="-25000" dirty="0"/>
              </a:p>
            </p:txBody>
          </p:sp>
        </mc:Choice>
        <mc:Fallback xmlns="">
          <p:sp>
            <p:nvSpPr>
              <p:cNvPr id="53" name="Textfeld 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7932" y="1982644"/>
                <a:ext cx="1688617" cy="82682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Gerader Verbinder 24"/>
          <p:cNvCxnSpPr/>
          <p:nvPr/>
        </p:nvCxnSpPr>
        <p:spPr>
          <a:xfrm>
            <a:off x="3900487" y="5776645"/>
            <a:ext cx="4402137" cy="0"/>
          </a:xfrm>
          <a:prstGeom prst="line">
            <a:avLst/>
          </a:prstGeom>
          <a:ln w="88900"/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4" name="Gerader Verbinder 23"/>
          <p:cNvCxnSpPr/>
          <p:nvPr/>
        </p:nvCxnSpPr>
        <p:spPr>
          <a:xfrm>
            <a:off x="3936162" y="1453469"/>
            <a:ext cx="4349" cy="4323176"/>
          </a:xfrm>
          <a:prstGeom prst="line">
            <a:avLst/>
          </a:prstGeom>
          <a:ln w="88900">
            <a:solidFill>
              <a:schemeClr val="accent3">
                <a:lumMod val="75000"/>
              </a:schemeClr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" name="Gerader Verbinder 11"/>
          <p:cNvCxnSpPr/>
          <p:nvPr/>
        </p:nvCxnSpPr>
        <p:spPr>
          <a:xfrm>
            <a:off x="3890963" y="1453469"/>
            <a:ext cx="4414837" cy="8535"/>
          </a:xfrm>
          <a:prstGeom prst="line">
            <a:avLst/>
          </a:prstGeom>
          <a:ln w="889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Grafik 54"/>
          <p:cNvPicPr>
            <a:picLocks noChangeAspect="1"/>
          </p:cNvPicPr>
          <p:nvPr/>
        </p:nvPicPr>
        <p:blipFill rotWithShape="1"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68" b="98065" l="3279" r="98361">
                        <a14:foregroundMark x1="45902" y1="88065" x2="49180" y2="90645"/>
                        <a14:foregroundMark x1="49180" y1="94194" x2="49180" y2="98387"/>
                        <a14:foregroundMark x1="11475" y1="82258" x2="3279" y2="82258"/>
                        <a14:foregroundMark x1="68852" y1="84516" x2="98361" y2="84516"/>
                        <a14:foregroundMark x1="70492" y1="15484" x2="60656" y2="96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" r="-1" b="40889"/>
          <a:stretch/>
        </p:blipFill>
        <p:spPr>
          <a:xfrm rot="5400000" flipH="1">
            <a:off x="3835813" y="4548156"/>
            <a:ext cx="259265" cy="778823"/>
          </a:xfrm>
          <a:prstGeom prst="rect">
            <a:avLst/>
          </a:prstGeom>
        </p:spPr>
      </p:pic>
      <p:pic>
        <p:nvPicPr>
          <p:cNvPr id="56" name="Grafik 55"/>
          <p:cNvPicPr>
            <a:picLocks noChangeAspect="1"/>
          </p:cNvPicPr>
          <p:nvPr/>
        </p:nvPicPr>
        <p:blipFill rotWithShape="1"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68" b="98065" l="3279" r="98361">
                        <a14:foregroundMark x1="45902" y1="88065" x2="49180" y2="90645"/>
                        <a14:foregroundMark x1="49180" y1="94194" x2="49180" y2="98387"/>
                        <a14:foregroundMark x1="11475" y1="82258" x2="3279" y2="82258"/>
                        <a14:foregroundMark x1="68852" y1="84516" x2="98361" y2="84516"/>
                        <a14:foregroundMark x1="70492" y1="15484" x2="60656" y2="96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" r="-1" b="40889"/>
          <a:stretch/>
        </p:blipFill>
        <p:spPr>
          <a:xfrm flipH="1">
            <a:off x="4408137" y="5294993"/>
            <a:ext cx="259265" cy="778823"/>
          </a:xfrm>
          <a:prstGeom prst="rect">
            <a:avLst/>
          </a:prstGeom>
        </p:spPr>
      </p:pic>
      <p:pic>
        <p:nvPicPr>
          <p:cNvPr id="59" name="Grafik 58"/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68" b="98065" l="3279" r="98361">
                        <a14:foregroundMark x1="45902" y1="88065" x2="49180" y2="90645"/>
                        <a14:foregroundMark x1="49180" y1="94194" x2="49180" y2="98387"/>
                        <a14:foregroundMark x1="11475" y1="82258" x2="3279" y2="82258"/>
                        <a14:foregroundMark x1="68852" y1="84516" x2="98361" y2="84516"/>
                        <a14:foregroundMark x1="70492" y1="15484" x2="60656" y2="96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" r="-1" b="40889"/>
          <a:stretch/>
        </p:blipFill>
        <p:spPr>
          <a:xfrm rot="5400000" flipH="1">
            <a:off x="3807133" y="2181515"/>
            <a:ext cx="259265" cy="778823"/>
          </a:xfrm>
          <a:prstGeom prst="rect">
            <a:avLst/>
          </a:prstGeom>
        </p:spPr>
      </p:pic>
      <p:pic>
        <p:nvPicPr>
          <p:cNvPr id="60" name="Grafik 59"/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68" b="98065" l="3279" r="98361">
                        <a14:foregroundMark x1="45902" y1="88065" x2="49180" y2="90645"/>
                        <a14:foregroundMark x1="49180" y1="94194" x2="49180" y2="98387"/>
                        <a14:foregroundMark x1="11475" y1="82258" x2="3279" y2="82258"/>
                        <a14:foregroundMark x1="68852" y1="84516" x2="98361" y2="84516"/>
                        <a14:foregroundMark x1="70492" y1="15484" x2="60656" y2="96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" r="-1" b="40889"/>
          <a:stretch/>
        </p:blipFill>
        <p:spPr>
          <a:xfrm rot="10800000" flipH="1">
            <a:off x="4781441" y="1184224"/>
            <a:ext cx="259265" cy="778823"/>
          </a:xfrm>
          <a:prstGeom prst="rect">
            <a:avLst/>
          </a:prstGeom>
        </p:spPr>
      </p:pic>
      <p:cxnSp>
        <p:nvCxnSpPr>
          <p:cNvPr id="65" name="Gerade Verbindung mit Pfeil 64"/>
          <p:cNvCxnSpPr/>
          <p:nvPr/>
        </p:nvCxnSpPr>
        <p:spPr>
          <a:xfrm flipH="1">
            <a:off x="8339825" y="5442119"/>
            <a:ext cx="767054" cy="0"/>
          </a:xfrm>
          <a:prstGeom prst="straightConnector1">
            <a:avLst/>
          </a:prstGeom>
          <a:ln w="44450">
            <a:solidFill>
              <a:schemeClr val="accent1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feld 65"/>
          <p:cNvSpPr txBox="1"/>
          <p:nvPr/>
        </p:nvSpPr>
        <p:spPr>
          <a:xfrm>
            <a:off x="8197012" y="3132704"/>
            <a:ext cx="162008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800" dirty="0">
                <a:solidFill>
                  <a:schemeClr val="bg2">
                    <a:lumMod val="50000"/>
                  </a:schemeClr>
                </a:solidFill>
              </a:rPr>
              <a:t>A</a:t>
            </a:r>
            <a:r>
              <a:rPr lang="de-DE" sz="2800" baseline="-25000" dirty="0">
                <a:solidFill>
                  <a:schemeClr val="bg2">
                    <a:lumMod val="50000"/>
                  </a:schemeClr>
                </a:solidFill>
              </a:rPr>
              <a:t>wall </a:t>
            </a:r>
            <a:r>
              <a:rPr lang="de-DE" sz="2800" dirty="0">
                <a:solidFill>
                  <a:schemeClr val="bg2">
                    <a:lumMod val="50000"/>
                  </a:schemeClr>
                </a:solidFill>
              </a:rPr>
              <a:t>(n)</a:t>
            </a:r>
          </a:p>
          <a:p>
            <a:pPr algn="ctr"/>
            <a:r>
              <a:rPr lang="de-DE" sz="2800" dirty="0">
                <a:solidFill>
                  <a:schemeClr val="bg2">
                    <a:lumMod val="50000"/>
                  </a:schemeClr>
                </a:solidFill>
              </a:rPr>
              <a:t>U</a:t>
            </a:r>
            <a:r>
              <a:rPr lang="de-DE" sz="2800" baseline="-25000" dirty="0">
                <a:solidFill>
                  <a:schemeClr val="bg2">
                    <a:lumMod val="50000"/>
                  </a:schemeClr>
                </a:solidFill>
              </a:rPr>
              <a:t>wall</a:t>
            </a:r>
            <a:r>
              <a:rPr lang="de-DE" sz="2800" dirty="0">
                <a:solidFill>
                  <a:schemeClr val="bg2">
                    <a:lumMod val="50000"/>
                  </a:schemeClr>
                </a:solidFill>
              </a:rPr>
              <a:t>(n)</a:t>
            </a:r>
            <a:endParaRPr lang="de-DE" sz="2800" baseline="-25000" dirty="0">
              <a:solidFill>
                <a:schemeClr val="bg2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feld 66"/>
              <p:cNvSpPr txBox="1"/>
              <p:nvPr/>
            </p:nvSpPr>
            <p:spPr>
              <a:xfrm>
                <a:off x="1082279" y="4514760"/>
                <a:ext cx="2114656" cy="5395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sz="2800" i="1" dirty="0" smtClean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800" b="0" i="1" dirty="0" smtClean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acc>
                  </m:oMath>
                </a14:m>
                <a:r>
                  <a:rPr lang="de-DE" sz="2800" baseline="-25000" dirty="0">
                    <a:solidFill>
                      <a:schemeClr val="bg2">
                        <a:lumMod val="50000"/>
                      </a:schemeClr>
                    </a:solidFill>
                  </a:rPr>
                  <a:t>loss,1,wall</a:t>
                </a:r>
              </a:p>
            </p:txBody>
          </p:sp>
        </mc:Choice>
        <mc:Fallback xmlns="">
          <p:sp>
            <p:nvSpPr>
              <p:cNvPr id="67" name="Textfeld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2279" y="4514760"/>
                <a:ext cx="2114656" cy="539571"/>
              </a:xfrm>
              <a:prstGeom prst="rect">
                <a:avLst/>
              </a:prstGeom>
              <a:blipFill>
                <a:blip r:embed="rId26"/>
                <a:stretch>
                  <a:fillRect b="-306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8" name="Grafik 37"/>
          <p:cNvPicPr>
            <a:picLocks noChangeAspect="1"/>
          </p:cNvPicPr>
          <p:nvPr/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68" b="98065" l="3279" r="98361">
                        <a14:foregroundMark x1="45902" y1="88065" x2="49180" y2="90645"/>
                        <a14:foregroundMark x1="49180" y1="94194" x2="49180" y2="98387"/>
                        <a14:foregroundMark x1="11475" y1="82258" x2="3279" y2="82258"/>
                        <a14:foregroundMark x1="68852" y1="84516" x2="98361" y2="84516"/>
                        <a14:foregroundMark x1="70492" y1="15484" x2="60656" y2="96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H="1">
            <a:off x="3558749" y="3035477"/>
            <a:ext cx="259265" cy="1317576"/>
          </a:xfrm>
          <a:prstGeom prst="rect">
            <a:avLst/>
          </a:prstGeom>
        </p:spPr>
      </p:pic>
      <p:pic>
        <p:nvPicPr>
          <p:cNvPr id="46" name="Grafik 45"/>
          <p:cNvPicPr>
            <a:picLocks noChangeAspect="1"/>
          </p:cNvPicPr>
          <p:nvPr/>
        </p:nvPicPr>
        <p:blipFill rotWithShape="1">
          <a:blip r:embed="rId27">
            <a:duotone>
              <a:prstClr val="black"/>
              <a:srgbClr val="F010A5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68" b="98065" l="3279" r="98361">
                        <a14:foregroundMark x1="45902" y1="88065" x2="49180" y2="90645"/>
                        <a14:foregroundMark x1="49180" y1="94194" x2="49180" y2="98387"/>
                        <a14:foregroundMark x1="11475" y1="82258" x2="3279" y2="82258"/>
                        <a14:foregroundMark x1="68852" y1="84516" x2="98361" y2="84516"/>
                        <a14:foregroundMark x1="70492" y1="15484" x2="60656" y2="968"/>
                      </a14:backgroundRemoval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" r="-1" b="40889"/>
          <a:stretch/>
        </p:blipFill>
        <p:spPr>
          <a:xfrm rot="5400000" flipH="1">
            <a:off x="3828126" y="3302416"/>
            <a:ext cx="259265" cy="77882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feld 46"/>
              <p:cNvSpPr txBox="1"/>
              <p:nvPr/>
            </p:nvSpPr>
            <p:spPr>
              <a:xfrm>
                <a:off x="1079614" y="3281890"/>
                <a:ext cx="2114656" cy="5395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sz="2800" i="1" dirty="0" smtClean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800" b="0" i="1" dirty="0" smtClean="0">
                            <a:solidFill>
                              <a:schemeClr val="bg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acc>
                  </m:oMath>
                </a14:m>
                <a:r>
                  <a:rPr lang="de-DE" sz="2800" baseline="-25000" dirty="0">
                    <a:solidFill>
                      <a:schemeClr val="bg2">
                        <a:lumMod val="50000"/>
                      </a:schemeClr>
                    </a:solidFill>
                  </a:rPr>
                  <a:t>loss,n-1,wall</a:t>
                </a:r>
              </a:p>
            </p:txBody>
          </p:sp>
        </mc:Choice>
        <mc:Fallback xmlns="">
          <p:sp>
            <p:nvSpPr>
              <p:cNvPr id="47" name="Textfeld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614" y="3281890"/>
                <a:ext cx="2114656" cy="539571"/>
              </a:xfrm>
              <a:prstGeom prst="rect">
                <a:avLst/>
              </a:prstGeom>
              <a:blipFill>
                <a:blip r:embed="rId28"/>
                <a:stretch>
                  <a:fillRect b="-3033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feld 47"/>
          <p:cNvSpPr txBox="1"/>
          <p:nvPr/>
        </p:nvSpPr>
        <p:spPr>
          <a:xfrm>
            <a:off x="5420560" y="3405383"/>
            <a:ext cx="13571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800" dirty="0"/>
              <a:t>T</a:t>
            </a:r>
            <a:r>
              <a:rPr lang="de-DE" sz="2800" baseline="-25000" dirty="0"/>
              <a:t>n-1</a:t>
            </a:r>
            <a:r>
              <a:rPr lang="de-DE" sz="2800" dirty="0"/>
              <a:t>, V</a:t>
            </a:r>
            <a:r>
              <a:rPr lang="de-DE" sz="2800" baseline="-25000" dirty="0"/>
              <a:t>n-1</a:t>
            </a:r>
          </a:p>
        </p:txBody>
      </p:sp>
      <p:cxnSp>
        <p:nvCxnSpPr>
          <p:cNvPr id="3" name="Gerade Verbindung mit Pfeil 2"/>
          <p:cNvCxnSpPr/>
          <p:nvPr/>
        </p:nvCxnSpPr>
        <p:spPr>
          <a:xfrm>
            <a:off x="6609864" y="2879329"/>
            <a:ext cx="0" cy="414866"/>
          </a:xfrm>
          <a:prstGeom prst="straightConnector1">
            <a:avLst/>
          </a:prstGeom>
          <a:ln w="412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/>
          <p:cNvCxnSpPr/>
          <p:nvPr/>
        </p:nvCxnSpPr>
        <p:spPr>
          <a:xfrm>
            <a:off x="6614088" y="4066535"/>
            <a:ext cx="0" cy="414866"/>
          </a:xfrm>
          <a:prstGeom prst="straightConnector1">
            <a:avLst/>
          </a:prstGeom>
          <a:ln w="412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feld 57"/>
              <p:cNvSpPr txBox="1"/>
              <p:nvPr/>
            </p:nvSpPr>
            <p:spPr>
              <a:xfrm>
                <a:off x="6620128" y="2771908"/>
                <a:ext cx="1682496" cy="5395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sz="28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8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acc>
                  </m:oMath>
                </a14:m>
                <a:r>
                  <a:rPr lang="de-DE" sz="2800" baseline="-25000" dirty="0"/>
                  <a:t>diffus., n:n-1</a:t>
                </a:r>
              </a:p>
            </p:txBody>
          </p:sp>
        </mc:Choice>
        <mc:Fallback xmlns="">
          <p:sp>
            <p:nvSpPr>
              <p:cNvPr id="58" name="Textfeld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0128" y="2771908"/>
                <a:ext cx="1682496" cy="539571"/>
              </a:xfrm>
              <a:prstGeom prst="rect">
                <a:avLst/>
              </a:prstGeom>
              <a:blipFill>
                <a:blip r:embed="rId29"/>
                <a:stretch>
                  <a:fillRect r="-2174" b="-306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feld 60"/>
              <p:cNvSpPr txBox="1"/>
              <p:nvPr/>
            </p:nvSpPr>
            <p:spPr>
              <a:xfrm>
                <a:off x="6625179" y="3980090"/>
                <a:ext cx="1682496" cy="5395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sz="28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8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acc>
                  </m:oMath>
                </a14:m>
                <a:r>
                  <a:rPr lang="de-DE" sz="2800" baseline="-25000" dirty="0"/>
                  <a:t>diffus., n-1:1</a:t>
                </a:r>
              </a:p>
            </p:txBody>
          </p:sp>
        </mc:Choice>
        <mc:Fallback xmlns="">
          <p:sp>
            <p:nvSpPr>
              <p:cNvPr id="61" name="Textfeld 6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5179" y="3980090"/>
                <a:ext cx="1682496" cy="539571"/>
              </a:xfrm>
              <a:prstGeom prst="rect">
                <a:avLst/>
              </a:prstGeom>
              <a:blipFill>
                <a:blip r:embed="rId30"/>
                <a:stretch>
                  <a:fillRect r="-2174" b="-306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feld 62"/>
              <p:cNvSpPr txBox="1"/>
              <p:nvPr/>
            </p:nvSpPr>
            <p:spPr>
              <a:xfrm>
                <a:off x="4569815" y="2785800"/>
                <a:ext cx="1682496" cy="5395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sz="28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8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acc>
                  </m:oMath>
                </a14:m>
                <a:r>
                  <a:rPr lang="de-DE" sz="2800" baseline="-25000" dirty="0"/>
                  <a:t>buoy., n:n-1</a:t>
                </a:r>
              </a:p>
            </p:txBody>
          </p:sp>
        </mc:Choice>
        <mc:Fallback xmlns="">
          <p:sp>
            <p:nvSpPr>
              <p:cNvPr id="63" name="Textfeld 6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9815" y="2785800"/>
                <a:ext cx="1682496" cy="539571"/>
              </a:xfrm>
              <a:prstGeom prst="rect">
                <a:avLst/>
              </a:prstGeom>
              <a:blipFill>
                <a:blip r:embed="rId31"/>
                <a:stretch>
                  <a:fillRect b="-292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feld 63"/>
              <p:cNvSpPr txBox="1"/>
              <p:nvPr/>
            </p:nvSpPr>
            <p:spPr>
              <a:xfrm>
                <a:off x="4734245" y="4006621"/>
                <a:ext cx="1682496" cy="5395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sz="28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8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acc>
                  </m:oMath>
                </a14:m>
                <a:r>
                  <a:rPr lang="de-DE" sz="2800" baseline="-25000" dirty="0"/>
                  <a:t>buoy., n-1:1</a:t>
                </a:r>
              </a:p>
            </p:txBody>
          </p:sp>
        </mc:Choice>
        <mc:Fallback xmlns="">
          <p:sp>
            <p:nvSpPr>
              <p:cNvPr id="64" name="Textfeld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4245" y="4006621"/>
                <a:ext cx="1682496" cy="539571"/>
              </a:xfrm>
              <a:prstGeom prst="rect">
                <a:avLst/>
              </a:prstGeom>
              <a:blipFill>
                <a:blip r:embed="rId32"/>
                <a:stretch>
                  <a:fillRect b="-3033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Gebogener Pfeil 67"/>
          <p:cNvSpPr/>
          <p:nvPr/>
        </p:nvSpPr>
        <p:spPr>
          <a:xfrm>
            <a:off x="4545193" y="2635113"/>
            <a:ext cx="800777" cy="962501"/>
          </a:xfrm>
          <a:prstGeom prst="circularArrow">
            <a:avLst>
              <a:gd name="adj1" fmla="val 3101"/>
              <a:gd name="adj2" fmla="val 1058408"/>
              <a:gd name="adj3" fmla="val 16580186"/>
              <a:gd name="adj4" fmla="val 3872342"/>
              <a:gd name="adj5" fmla="val 9105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71" name="Gebogener Pfeil 70"/>
          <p:cNvSpPr/>
          <p:nvPr/>
        </p:nvSpPr>
        <p:spPr>
          <a:xfrm>
            <a:off x="4593541" y="3820556"/>
            <a:ext cx="800777" cy="962501"/>
          </a:xfrm>
          <a:prstGeom prst="circularArrow">
            <a:avLst>
              <a:gd name="adj1" fmla="val 3101"/>
              <a:gd name="adj2" fmla="val 1058408"/>
              <a:gd name="adj3" fmla="val 16580186"/>
              <a:gd name="adj4" fmla="val 3872342"/>
              <a:gd name="adj5" fmla="val 9105"/>
            </a:avLst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56785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</Words>
  <Application>Microsoft Office PowerPoint</Application>
  <PresentationFormat>Breitbild</PresentationFormat>
  <Paragraphs>20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Cambria Math</vt:lpstr>
      <vt:lpstr>Office</vt:lpstr>
      <vt:lpstr>PowerPoint-Präsentation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Heiner Steinacker</dc:creator>
  <cp:lastModifiedBy>Heiner Steinacker</cp:lastModifiedBy>
  <cp:revision>2</cp:revision>
  <dcterms:created xsi:type="dcterms:W3CDTF">2022-10-21T12:58:11Z</dcterms:created>
  <dcterms:modified xsi:type="dcterms:W3CDTF">2026-02-04T13:06:29Z</dcterms:modified>
</cp:coreProperties>
</file>